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5"/>
    <p:sldId id="261" r:id="rId4"/>
    <p:sldId id="262" r:id="rId3"/>
    <p:sldId id="263" r:id="rId2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104595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F172A"/>
                </a:solidFill>
                <a:latin typeface="Poppins"/>
              </a:defRPr>
            </a:pPr>
            <a:r>
              <a:t>Correlation Network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3337560"/>
            <a:ext cx="10972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611880"/>
            <a:ext cx="11045952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Poppins"/>
              </a:defRPr>
            </a:pPr>
            <a:r>
              <a:t>Interactive Graph Analytics, Statistical Modeling &amp; High-Dimensional Feature Exploration</a:t>
            </a:r>
          </a:p>
          <a:p>
            <a:pPr>
              <a:spcAft>
                <a:spcPts val="2000"/>
              </a:spcAft>
              <a:defRPr sz="1300" b="1">
                <a:solidFill>
                  <a:srgbClr val="2563EB"/>
                </a:solidFill>
                <a:latin typeface="Poppins"/>
              </a:defRPr>
            </a:pPr>
            <a:r>
              <a:t>Full-Stack System: FastAPI • SQLite • D3.js Force Physics Simulation • SciPy &amp; NumPy Analytics</a:t>
            </a:r>
          </a:p>
          <a:p>
            <a:pPr>
              <a:defRPr sz="1150">
                <a:solidFill>
                  <a:srgbClr val="64748B"/>
                </a:solidFill>
                <a:latin typeface="Inter"/>
              </a:defRPr>
            </a:pPr>
            <a:r>
              <a:t>Academic Project Defense • Comprehensive Evaluation: Real Datasets, Empirical Regressions &amp; Centrality Topology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53035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200" b="1">
                <a:solidFill>
                  <a:srgbClr val="2563EB"/>
                </a:solidFill>
                <a:latin typeface="Poppins"/>
              </a:defRPr>
            </a:pPr>
            <a:r>
              <a:t>Preface &amp;</a:t>
            </a:r>
            <a:br/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94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50">
                <a:solidFill>
                  <a:srgbClr val="1E293B"/>
                </a:solidFill>
                <a:latin typeface="Poppins"/>
              </a:rPr>
              <a:t>The Challenge: </a:t>
            </a:r>
            <a:r>
              <a:rPr sz="1150">
                <a:solidFill>
                  <a:srgbClr val="475569"/>
                </a:solidFill>
                <a:latin typeface="Inter"/>
              </a:rPr>
              <a:t>High-dimensional tabular datasets obscure cross-variable correlations. Traditional N × N correlation tables scale quadratically (O(N²)), overwhelming human cognitive bandwidth. Raw numerical tables hide latent clusters, hub variables, and inverse trade-offs.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834640"/>
            <a:ext cx="5394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50">
                <a:solidFill>
                  <a:srgbClr val="1E293B"/>
                </a:solidFill>
                <a:latin typeface="Poppins"/>
              </a:rPr>
              <a:t>Our Objective: </a:t>
            </a:r>
            <a:r>
              <a:rPr sz="1150">
                <a:solidFill>
                  <a:srgbClr val="475569"/>
                </a:solidFill>
                <a:latin typeface="Inter"/>
              </a:rPr>
              <a:t>To engineer and deploy a production full-stack visual analytics platform transforming raw numerical datasets into interactive, force-directed network graphs with linked bivariate OLS regression scatter plots and univariate distribution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480560"/>
            <a:ext cx="5394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50">
                <a:solidFill>
                  <a:srgbClr val="1E293B"/>
                </a:solidFill>
                <a:latin typeface="Poppins"/>
              </a:rPr>
              <a:t>The Scope: </a:t>
            </a:r>
            <a:r>
              <a:rPr sz="1150">
                <a:solidFill>
                  <a:srgbClr val="475569"/>
                </a:solidFill>
                <a:latin typeface="Inter"/>
              </a:rPr>
              <a:t>This presentation outlines our decoupled three-tier architecture (FastAPI, SQLite, D3.js), the mathematical correlation engines (Pearson &amp; Spearman with two-tailed p-values), empirical dataset evaluations, and multi-level analytical user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SYSTEM WORKFLOW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Methodology: The Core Pipeline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Three integrated analytical stages transforming raw tabular data into interactive visual insights.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342900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764792"/>
            <a:ext cx="36576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92808"/>
            <a:ext cx="2971800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1. Data Ingestion &amp; Storage</a:t>
            </a:r>
          </a:p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Poppins"/>
              </a:defRPr>
            </a:pPr>
            <a:r>
              <a:t>STEP 1: PERSISTENCE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Aggregates and persists multi-feature datasets in SQLite relational database.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Dynamic schema validation requires ≥ 2 numeric columns and ≥ 3 observations.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Automated drag-and-drop CSV uploader with Pandas numeric type sanitization.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Pre-seeded with real benchmark datasets: Academic Performance &amp; Macroeconomics.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UUID generation and transactional integrity guarantee reliable data retrieval.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2900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3712" y="1764792"/>
            <a:ext cx="365760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892808"/>
            <a:ext cx="2971800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2. Statistical Engine Core</a:t>
            </a:r>
          </a:p>
          <a:p>
            <a:pPr>
              <a:spcAft>
                <a:spcPts val="300"/>
              </a:spcAft>
              <a:defRPr sz="850" b="1">
                <a:solidFill>
                  <a:srgbClr val="0D9488"/>
                </a:solidFill>
                <a:latin typeface="Poppins"/>
              </a:defRPr>
            </a:pPr>
            <a:r>
              <a:t>STEP 2: ANALYTICS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Dual correlation engine: computes full N × N Pearson and Spearman rank matrices.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Rigorous hypothesis testing: calculates exact two-tailed Student's t-test p-values.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Dynamic threshold filtering: strips spurious, statistically non-significant edges.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Bivariate OLS linear regression: fits trendline, calculates slope, intercept, and R².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Univariate statistics: NumPy frequency histogram binning and quartile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600200"/>
            <a:ext cx="342900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57616" y="1764792"/>
            <a:ext cx="36576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892808"/>
            <a:ext cx="2971800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3. Interactive Visual Analytics</a:t>
            </a:r>
          </a:p>
          <a:p>
            <a:pPr>
              <a:spcAft>
                <a:spcPts val="300"/>
              </a:spcAft>
              <a:defRPr sz="850" b="1">
                <a:solidFill>
                  <a:srgbClr val="1E293B"/>
                </a:solidFill>
                <a:latin typeface="Poppins"/>
              </a:defRPr>
            </a:pPr>
            <a:r>
              <a:t>STEP 3: VISUALIZATION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D3.js v7 force physics engine with continuous electrostatic repulsion and spring links.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Visual encodings: node radius ∝ weighted degree centrality; edge color/dash ∝ polarity.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Symmetric correlation heatmap with diverging rust-to-teal gradient ramp.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Linked drill-down modals: click edge → 2D scatter plot; click node → histogram.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Publication export: one-click vector SVG graphic download.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486400"/>
            <a:ext cx="11045952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486400"/>
            <a:ext cx="4572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5276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1E293B"/>
                </a:solidFill>
                <a:latin typeface="Poppins"/>
              </a:rPr>
              <a:t>Key Takeaway: </a:t>
            </a:r>
            <a:r>
              <a:rPr sz="1050">
                <a:solidFill>
                  <a:srgbClr val="475569"/>
                </a:solidFill>
                <a:latin typeface="Inter"/>
              </a:rPr>
              <a:t>The end-to-end pipeline operates with sub-50ms roundtrip latency, providing real-time feedback as analysts adjust significance and correlation thresholds.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SYSTEM ARCHITECTURE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Three-Tier System Architecture &amp; Data Flow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Decoupled full-stack architecture bridging Python scientific computation with web-native D3.js physics.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08760"/>
            <a:ext cx="5212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73352"/>
            <a:ext cx="36576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01368"/>
            <a:ext cx="475488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Frontend Presentation Tier</a:t>
            </a:r>
          </a:p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Poppins"/>
              </a:defRPr>
            </a:pPr>
            <a:r>
              <a:t>PRESENTATION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Pure ES6 modular architecture (api.js, graph.js, heatmap.js, charts.js, app.js). Zero bundler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97480"/>
            <a:ext cx="5212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862072"/>
            <a:ext cx="365760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990088"/>
            <a:ext cx="475488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D3.js Force Physics Engine</a:t>
            </a:r>
          </a:p>
          <a:p>
            <a:pPr>
              <a:spcAft>
                <a:spcPts val="300"/>
              </a:spcAft>
              <a:defRPr sz="850" b="1">
                <a:solidFill>
                  <a:srgbClr val="0D9488"/>
                </a:solidFill>
                <a:latin typeface="Poppins"/>
              </a:defRPr>
            </a:pPr>
            <a:r>
              <a:t>SIMULATION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Velocity Verlet integration balancing electrostatic repulsion (charge = -320), link springs, and collisions.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886200"/>
            <a:ext cx="5212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4050792"/>
            <a:ext cx="36576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178808"/>
            <a:ext cx="475488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FastAPI Application Tier</a:t>
            </a:r>
          </a:p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Poppins"/>
              </a:defRPr>
            </a:pPr>
            <a:r>
              <a:t>BACKEND API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High-throughput ASGI server exposing RESTful endpoints with Pydantic validation and auto Swagger 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074920"/>
            <a:ext cx="5212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5239512"/>
            <a:ext cx="36576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5367528"/>
            <a:ext cx="4754880" cy="667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SQLite Persistence &amp; Math Core</a:t>
            </a:r>
          </a:p>
          <a:p>
            <a:pPr>
              <a:spcAft>
                <a:spcPts val="300"/>
              </a:spcAft>
              <a:defRPr sz="850" b="1">
                <a:solidFill>
                  <a:srgbClr val="1E293B"/>
                </a:solidFill>
                <a:latin typeface="Poppins"/>
              </a:defRPr>
            </a:pPr>
            <a:r>
              <a:t>DATA &amp; MATH CORE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ACID-compliant storage paired with SciPy/NumPy for O(N²) correlation and OLS regression modeling.</a:t>
            </a:r>
          </a:p>
        </p:txBody>
      </p:sp>
      <p:pic>
        <p:nvPicPr>
          <p:cNvPr id="16" name="Picture 1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57784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STATISTICAL ENGINE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Mathematical &amp; Algorithmic Foundations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Rigorous statistical formulations implemented in SciPy and NumPy for dependable relationship inference.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08760"/>
            <a:ext cx="53492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73352"/>
            <a:ext cx="36576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01368"/>
            <a:ext cx="4892040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Pearson Linear Correlation (r)</a:t>
            </a:r>
          </a:p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Poppins"/>
              </a:defRPr>
            </a:pPr>
            <a:r>
              <a:t>PARAMETRIC METRIC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Formula: r = Σ((x_i - x̄)(y_i - ȳ)) / [√Σ(x_i - x̄)² √Σ(y_i - ȳ)²] = Cov(X,Y) / (σ_x · σ_y)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Measures the degree and direction of linear co-variation between continuous variables; bounds: [-1, +1].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In Studio: Drives primary spring link attraction and edge stroke width.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492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6520" y="1673352"/>
            <a:ext cx="365760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01368"/>
            <a:ext cx="4892040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Spearman Rank Correlation (ρ)</a:t>
            </a:r>
          </a:p>
          <a:p>
            <a:pPr>
              <a:spcAft>
                <a:spcPts val="300"/>
              </a:spcAft>
              <a:defRPr sz="850" b="1">
                <a:solidFill>
                  <a:srgbClr val="0D9488"/>
                </a:solidFill>
                <a:latin typeface="Poppins"/>
              </a:defRPr>
            </a:pPr>
            <a:r>
              <a:t>NON-PARAMETRIC METRIC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Formula: ρ = 1 - [6 Σ d_i²] / [n(n² - 1)], where d_i = rank(x_i) - rank(y_i)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Non-parametric metric evaluating monotonic relationships regardless of whether they are linear.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In Studio: Robust against extreme outliers and skewed distributions; selectable via UI toggle.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840480"/>
            <a:ext cx="53492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4005072"/>
            <a:ext cx="36576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133088"/>
            <a:ext cx="4892040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Two-Tailed Hypothesis Testing (p-value)</a:t>
            </a:r>
          </a:p>
          <a:p>
            <a:pPr>
              <a:spcAft>
                <a:spcPts val="300"/>
              </a:spcAft>
              <a:defRPr sz="850" b="1">
                <a:solidFill>
                  <a:srgbClr val="1E293B"/>
                </a:solidFill>
                <a:latin typeface="Poppins"/>
              </a:defRPr>
            </a:pPr>
            <a:r>
              <a:t>SIGNIFICANCE VALIDATION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Test Statistic: t = r · √[(n - 2) / (1 - r²)] with degrees of freedom df = n - 2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Exact p-value computed via Student's t cumulative distribution function: p = 2 · (1 - T_cdf(|t|, df)).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In Studio: Real-time significance filter removes spurious edges with p ≥ 0.05, preventing false discoveries.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840480"/>
            <a:ext cx="53492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4005072"/>
            <a:ext cx="365760" cy="54864"/>
          </a:xfrm>
          <a:prstGeom prst="roundRect">
            <a:avLst/>
          </a:prstGeom>
          <a:solidFill>
            <a:srgbClr val="B5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33088"/>
            <a:ext cx="4892040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Ordinary Least Squares (OLS) Regression</a:t>
            </a:r>
          </a:p>
          <a:p>
            <a:pPr>
              <a:spcAft>
                <a:spcPts val="300"/>
              </a:spcAft>
              <a:defRPr sz="850" b="1">
                <a:solidFill>
                  <a:srgbClr val="B5452D"/>
                </a:solidFill>
                <a:latin typeface="Poppins"/>
              </a:defRPr>
            </a:pPr>
            <a:r>
              <a:t>PREDICTIVE MODELING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Model: ŷ = β₁ x + β₀, where β₁ = Cov(X,Y)/Var(X) and β₀ = ȳ - β₁ x̄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Coefficient of Determination: R² = 1 - (SS_res / SS_tot) = r² (proportion of variance explained).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In Studio: Modal scatter plot dynamically fits regression line and displays equation with R² and p-value.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EMPIRICAL EVALUATION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Benchmark Dataset 1: Student Academic Performance (N=100)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8 academic subjects, N=100 observations, 28 total pairwise correlations with latent multi-factor clustering.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08760"/>
          <a:ext cx="1104595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188720"/>
                <a:gridCol w="1554480"/>
                <a:gridCol w="1188720"/>
                <a:gridCol w="1920240"/>
                <a:gridCol w="1993392"/>
              </a:tblGrid>
              <a:tr h="416559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Std Dev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Range [Min-Max]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Weighted Degree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Latent Cluster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Mathematics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70.12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10.42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45.0 - 92.4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69.80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Inter"/>
                        </a:defRPr>
                      </a:pPr>
                      <a:r>
                        <a:t>3.214 (Rank 1 - Hub)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STEM Core Cluster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Economics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70.31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11.51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40.2 - 96.1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70.15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Inter"/>
                        </a:defRPr>
                      </a:pPr>
                      <a:r>
                        <a:t>3.119 (Rank 2 - Hub)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Quant / Verbal Bridge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Chemistry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68.84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9.78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44.1 - 90.3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68.50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2.937 (Rank 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STEM / Life Science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Computer Science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72.45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11.23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45.3 - 98.0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72.10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2.827 (Rank 4)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STEM Core Cluster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Physics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69.21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10.89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42.0 - 94.2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68.90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2.766 (Rank 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STEM Core Cluster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History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69.82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10.12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46.1 - 95.0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69.40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2.112 (Rank 6)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Humanities Cluster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English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71.53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9.64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48.0 - 93.2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71.20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2.051 (Rank 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Humanities Cluster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Biology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67.91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10.81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38.5 - 91.0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67.80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1.842 (Rank 8)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Life Sciences Core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5440680"/>
            <a:ext cx="11045952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440680"/>
            <a:ext cx="4572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0408"/>
            <a:ext cx="10652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1E293B"/>
                </a:solidFill>
                <a:latin typeface="Poppins"/>
              </a:rPr>
              <a:t>Key Takeaway: </a:t>
            </a:r>
            <a:r>
              <a:rPr sz="1050">
                <a:solidFill>
                  <a:srgbClr val="475569"/>
                </a:solidFill>
                <a:latin typeface="Inter"/>
              </a:rPr>
              <a:t>Generative Architecture: Combines 4 latent factors: Quantitative (STEM), Verbal (Humanities), Memory (Life Science), and Applied Reasoning (Economics). Mathematics and Economics emerge as the primary network hubs with the highest weighted degree centrality.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CORRELATION MATRIX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Dataset 1: Full 8×8 Correlation Heatmap Analysis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Symmetric correlation matrix revealing distinct disciplinary clusters, cross-domain bridges, and significance patterns.</a:t>
            </a:r>
          </a:p>
        </p:txBody>
      </p:sp>
      <p:pic>
        <p:nvPicPr>
          <p:cNvPr id="4" name="Picture 3" descr="stud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5394960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508760"/>
            <a:ext cx="53949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673352"/>
            <a:ext cx="36576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01368"/>
            <a:ext cx="4937760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Empirical Matrix Insights</a:t>
            </a:r>
          </a:p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Poppins"/>
              </a:defRPr>
            </a:pPr>
            <a:r>
              <a:t>TOPOLOGICAL FINDINGS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28 Unique Bivariate Pairs: 18 pairs achieve statistical significance (p &lt; 0.05); 23 positive correlations, 5 weak negative.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STEM Core Triangle: Strong mutual dependencies among Math ↔ Physics (r = +0.831, p &lt; 0.0001), Math ↔ CS (r = +0.776), and Physics ↔ CS (r = +0.751).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Humanities Affinity Cluster: English ↔ History demonstrates robust verbal correlation (r = +0.740, p &lt; 0.0001).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The Economics Bridge: Economics correlates strongly with Math (r = +0.682) while maintaining links to History (r = +0.461), bridging quantitative and qualitative domains.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Biological Independence: Biology correlates with Chemistry (r = +0.453) but exhibits low correlation with English (r = -0.112), forming an isolated peripheral branch.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Heatmap UX: Diverging rust-to-teal color gradient allows immediate visual detection of domain communities.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BIVARIATE MODELING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Dataset 1: OLS Regression Modeling — Math vs Physics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Linked micro-level drill-down: bivariate scatter coordinates fitted with Ordinary Least Squares regression.</a:t>
            </a:r>
          </a:p>
        </p:txBody>
      </p:sp>
      <p:pic>
        <p:nvPicPr>
          <p:cNvPr id="4" name="Picture 3" descr="scatter_math_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5394960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508760"/>
            <a:ext cx="53949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673352"/>
            <a:ext cx="365760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01368"/>
            <a:ext cx="4937760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Fitted Linear Model &amp; Hypothesis Test</a:t>
            </a:r>
          </a:p>
          <a:p>
            <a:pPr>
              <a:spcAft>
                <a:spcPts val="300"/>
              </a:spcAft>
              <a:defRPr sz="850" b="1">
                <a:solidFill>
                  <a:srgbClr val="0D9488"/>
                </a:solidFill>
                <a:latin typeface="Poppins"/>
              </a:defRPr>
            </a:pPr>
            <a:r>
              <a:t>OLS REGRESSION DETAILS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Empirical Regression Equation: Physics = 0.801 × Math + 13.128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Correlation Magnitude: Pearson r = +0.831 (Exceptionally strong positive association).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Explained Variance: R² = 0.691 — Exactly 69.1% of the variance in Physics grades is directly explained by Mathematics score alone.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Statistical Significance: p-value &lt; 0.0001 (Student's t = 14.80 on df = 98). Null hypothesis of zero correlation is decisively rejected.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Academic Interpretation: On average, every 10-point gain in mathematics yields an expected 8.01-point increase in physics performance.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Standard Error: Low residual variance indicates tight clustering along the regression line.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Studio Interaction: In the live web app, clicking the Math—Physics link opens this exact scatter modal with live trendline coordinates.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CENTRALITY &amp; DISTRIBUTIONS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Dataset 1: Graph Centrality Topology &amp; Score Distributions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Multi-metric evaluation combining graph centrality metrics with univariate score distribution profiles.</a:t>
            </a:r>
          </a:p>
        </p:txBody>
      </p:sp>
      <p:pic>
        <p:nvPicPr>
          <p:cNvPr id="4" name="Picture 3" descr="degree_centr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5349240" cy="3794760"/>
          </a:xfrm>
          <a:prstGeom prst="rect">
            <a:avLst/>
          </a:prstGeom>
        </p:spPr>
      </p:pic>
      <p:pic>
        <p:nvPicPr>
          <p:cNvPr id="5" name="Picture 4" descr="student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349240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440680"/>
            <a:ext cx="11045952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440680"/>
            <a:ext cx="4572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50408"/>
            <a:ext cx="10652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1E293B"/>
                </a:solidFill>
                <a:latin typeface="Poppins"/>
              </a:rPr>
              <a:t>Key Takeaway: </a:t>
            </a:r>
            <a:r>
              <a:rPr sz="1050">
                <a:solidFill>
                  <a:srgbClr val="475569"/>
                </a:solidFill>
                <a:latin typeface="Inter"/>
              </a:rPr>
              <a:t>Centrality &amp; Distribution Insight: Mathematics (Degree = 3.214) and Economics (Degree = 3.119) act as structural anchors with 6+ connected edges. All subjects display healthy bell-curve score distributions centered between 68 and 72 with standard deviations of ~10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MACROECONOMIC DATASET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Benchmark Dataset 2: Macroeconomic Indicators (N=80)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6 core economic indicators, N=80 quarters, demonstrating inverse trade-offs and structural economic linkages.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08760"/>
            <a:ext cx="53949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73352"/>
            <a:ext cx="365760" cy="54864"/>
          </a:xfrm>
          <a:prstGeom prst="roundRect">
            <a:avLst/>
          </a:prstGeom>
          <a:solidFill>
            <a:srgbClr val="B5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01368"/>
            <a:ext cx="4937760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Macroeconomic Trade-Offs &amp; Drivers</a:t>
            </a:r>
          </a:p>
          <a:p>
            <a:pPr>
              <a:spcAft>
                <a:spcPts val="300"/>
              </a:spcAft>
              <a:defRPr sz="850" b="1">
                <a:solidFill>
                  <a:srgbClr val="B5452D"/>
                </a:solidFill>
                <a:latin typeface="Poppins"/>
              </a:defRPr>
            </a:pPr>
            <a:r>
              <a:t>MACROECONOMIC FINDINGS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Dataset Scope: N = 80 quarterly observations across 6 variables: GDP Growth, Inflation Rate, Unemployment Rate, Interest Rate, Consumer Confidence, and Stock Index.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15 Total Pairwise Correlations: 12 statistically significant (p &lt; 0.05); 6 positive linkages, 9 negative trade-offs.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Near-Perfect Inverse Trade-Off: GDP Growth ↔ Unemployment (r = -0.948, p &lt; 0.0001). Direct real-world validation of Okun's Law.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Monetary Policy Response: Inflation ↔ Interest Rates (r = +0.894, p &lt; 0.0001). Empirically demonstrates the central bank Taylor Rule.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Market Sentiment: Consumer Confidence ↔ Stock Index (r = +0.901). Highlights procyclical investor optimism.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Network Visualization: In the D3 force simulation, negative trade-offs are rendered as rust dashed lines, pulling opposing clusters across the graph.</a:t>
            </a:r>
          </a:p>
        </p:txBody>
      </p:sp>
      <p:pic>
        <p:nvPicPr>
          <p:cNvPr id="7" name="Picture 6" descr="ec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3949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EMPIRICAL LAW VALIDATION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Dataset 2: OLS Regression Modeling — Okun's Law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Bivariate regression between GDP Growth and Unemployment rate confirming Okun's macroeconomic law.</a:t>
            </a:r>
          </a:p>
        </p:txBody>
      </p:sp>
      <p:pic>
        <p:nvPicPr>
          <p:cNvPr id="4" name="Picture 3" descr="scatter_gdp_un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5394960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508760"/>
            <a:ext cx="53949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673352"/>
            <a:ext cx="365760" cy="54864"/>
          </a:xfrm>
          <a:prstGeom prst="roundRect">
            <a:avLst/>
          </a:prstGeom>
          <a:solidFill>
            <a:srgbClr val="B5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01368"/>
            <a:ext cx="4937760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Okun's Law Empirical Model Details</a:t>
            </a:r>
          </a:p>
          <a:p>
            <a:pPr>
              <a:spcAft>
                <a:spcPts val="300"/>
              </a:spcAft>
              <a:defRPr sz="850" b="1">
                <a:solidFill>
                  <a:srgbClr val="B5452D"/>
                </a:solidFill>
                <a:latin typeface="Poppins"/>
              </a:defRPr>
            </a:pPr>
            <a:r>
              <a:t>OKUN'S LAW VALIDATION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Empirical Regression Equation: Unemployment = -0.643 × GDP_Growth + 7.114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Correlation Coefficient: Pearson r = -0.948 (Near-perfect negative linear co-variation).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Coefficient of Determination: R² = 0.899 — Exactly 89.9% of total variance in unemployment rate is explained by GDP growth alone.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Statistical Significance: p-value &lt; 0.0001 (Student's t = -26.31 on df = 78). Eliminates any chance of spurious correlation.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Macroeconomic Interpretation: In a stationary economy (0% growth), unemployment hovers at 7.11%. For every 1% increase in GDP growth, unemployment falls by ~0.64 percentage points.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Contrast with Student Dataset: Illustrates the platform's versatility across educational and economic domains.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STATISTICAL COMPARISON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Methodology Comparison: Pearson vs Spearman Rank Metric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Evaluating linear sensitivity vs monotonic rank invariance across both empirical datasets.</a:t>
            </a:r>
          </a:p>
        </p:txBody>
      </p:sp>
      <p:pic>
        <p:nvPicPr>
          <p:cNvPr id="4" name="Picture 3" descr="pearson_vs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5349240" cy="3794760"/>
          </a:xfrm>
          <a:prstGeom prst="rect">
            <a:avLst/>
          </a:prstGeom>
        </p:spPr>
      </p:pic>
      <p:pic>
        <p:nvPicPr>
          <p:cNvPr id="5" name="Picture 4" descr="econ_top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349240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440680"/>
            <a:ext cx="11045952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440680"/>
            <a:ext cx="4572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50408"/>
            <a:ext cx="10652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1E293B"/>
                </a:solidFill>
                <a:latin typeface="Poppins"/>
              </a:rPr>
              <a:t>Key Takeaway: </a:t>
            </a:r>
            <a:r>
              <a:rPr sz="1050">
                <a:solidFill>
                  <a:srgbClr val="475569"/>
                </a:solidFill>
                <a:latin typeface="Inter"/>
              </a:rPr>
              <a:t>Algorithmic Comparison: Pearson correlation measures strict proportional linearity (Math-Physics r = +0.831 vs ρ = +0.812). Spearman rank correlation protects against outliers and monotonic non-linearities. The Studio allows instant switching between both methods.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PHYSICS &amp; VISUAL ENCODINGS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D3.js Force Simulation Mechanics &amp; Visual Encodings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Physics-based organic layout algorithms translating statistical relationships into spatial network topology.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3429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764792"/>
            <a:ext cx="36576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92808"/>
            <a:ext cx="2971800" cy="437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Simulation Forces</a:t>
            </a:r>
          </a:p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Poppins"/>
              </a:defRPr>
            </a:pPr>
            <a:r>
              <a:t>PHYSICS ENGINE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forceManyBody: Electrostatic repulsion (charge = -320) actively prevents label and node collisions.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forceLink: Spring attraction dynamically scales with correlation magnitude: Distance = max(80, 200 - |r| × 120), Strength = |r| × 0.8.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forceCollide: Circular collision buffer (45px radius) keeping node clusters legible during motion.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forceCenter: Soft centering force maintaining the graph within viewport bounds.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Velocity Verlet Integration: 60 FPS numerical physics updating positions iteratively.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29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3712" y="1764792"/>
            <a:ext cx="365760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892808"/>
            <a:ext cx="2971800" cy="437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Visual Encodings</a:t>
            </a:r>
          </a:p>
          <a:p>
            <a:pPr>
              <a:spcAft>
                <a:spcPts val="300"/>
              </a:spcAft>
              <a:defRPr sz="850" b="1">
                <a:solidFill>
                  <a:srgbClr val="0D9488"/>
                </a:solidFill>
                <a:latin typeface="Poppins"/>
              </a:defRPr>
            </a:pPr>
            <a:r>
              <a:t>VISUAL MAPPINGS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Node Radius: Scaled via d3.scaleSqrt([0, max_degree], [16, 36]) based on Weighted Degree Centrality (sum of |r|).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Edge Color: Solid Teal (#0D9488) for positive correlations (r &gt; 0); Dashed Rust (#B5452D) for negative correlations (r &lt; 0).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Edge Thickness: Scaled linearly from 1.5px to 5.0px proportional to correlation absolute value |r|.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Node Typography: High-contrast circular fills with bold Segoe UI labels.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Hover Tooltips: Exact numerical r, p-value, and sample count readouts.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600200"/>
            <a:ext cx="34290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57616" y="1764792"/>
            <a:ext cx="36576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892808"/>
            <a:ext cx="2971800" cy="437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Interaction Ergonomics</a:t>
            </a:r>
          </a:p>
          <a:p>
            <a:pPr>
              <a:spcAft>
                <a:spcPts val="300"/>
              </a:spcAft>
              <a:defRPr sz="850" b="1">
                <a:solidFill>
                  <a:srgbClr val="1E293B"/>
                </a:solidFill>
                <a:latin typeface="Poppins"/>
              </a:defRPr>
            </a:pPr>
            <a:r>
              <a:t>ERGONOMICS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Continuous Zoom &amp; Pan: Smooth d3.zoom viewport navigation with dedicated 'Reset View' control.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Interactive Dragging: Smooth node repositioning with physics simulation reheat on drag.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Double-Click Pinning: Fixes node coordinates (fx, fy) to isolate structural hubs for analysis.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Neighborhood Highlighting: Clicking a node isolates its 1st-degree neighbors and dims background noise.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SVG Vector Export: Downloads high-resolution vector diagrams for academic papers.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PERFORMANCE BENCHMARKS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Results: System Capabilities &amp; Performance Matrix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Empirical latency benchmarks measured on commercial hardware across 100 iterations.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08760"/>
          <a:ext cx="1104595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  <a:gridCol w="2377440"/>
                <a:gridCol w="2651760"/>
                <a:gridCol w="1719072"/>
              </a:tblGrid>
              <a:tr h="54210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Analytical Component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Underlying Technology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Mathematical Metric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Analytical Capability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Execution Latency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Pearson Linear Correlation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SciPy / NumPy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r = Cov(X,Y) / (σ_x · σ_y)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Linear co-variation &amp; edge weight scaling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&lt; 12 ms (N=100)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Spearman Rank Correlation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SciPy Stats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ρ = 1 - 6Σd² / [n(n²-1)]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Non-parametric monotonic dependency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&lt; 15 ms (N=100)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Significance Testing (p-value)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Student t-Distribution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t = r · √[(n-2)/(1-r²)]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Spurious correlation noise elimination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&lt; 6 ms (N=100)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OLS Linear Regression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SciPy linregress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y = β₁ x + β₀ (R² score)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Bivariate scatter slope &amp; trendline fit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&lt; 8 ms (Pair)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D3 Force Physics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D3.js v7 Web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Velocity Verlet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Real-time 60 FPS organic graph layout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Sub-millisecond / frame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0F172A"/>
                          </a:solidFill>
                          <a:latin typeface="Poppins"/>
                        </a:defRPr>
                      </a:pPr>
                      <a:r>
                        <a:t>SQLite Indexed Lookup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SQLite / Python sqlite3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SELECT data_json FROM records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Row deserialization &amp; schema loading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&lt; 2 ms (Indexed)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5440680"/>
            <a:ext cx="11045952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440680"/>
            <a:ext cx="4572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0408"/>
            <a:ext cx="10652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1E293B"/>
                </a:solidFill>
                <a:latin typeface="Poppins"/>
              </a:rPr>
              <a:t>Key Takeaway: </a:t>
            </a:r>
            <a:r>
              <a:rPr sz="1050">
                <a:solidFill>
                  <a:srgbClr val="475569"/>
                </a:solidFill>
                <a:latin typeface="Inter"/>
              </a:rPr>
              <a:t>Benchmark Summary: All computational algorithms execute in under 15ms. Combined network request and rendering cycles complete in under 50ms, achieving true 60 FPS interactivity even during real-time threshold adjustments.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SYSTEM EVOLUTION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Results: Comparative Capability Analysis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The full-stack architecture delivers a decisive capability transformation over the prototype.</a:t>
            </a:r>
          </a:p>
        </p:txBody>
      </p:sp>
      <p:pic>
        <p:nvPicPr>
          <p:cNvPr id="4" name="Picture 3" descr="capabil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11045952" cy="3794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440680"/>
            <a:ext cx="11045952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440680"/>
            <a:ext cx="4572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0408"/>
            <a:ext cx="10652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1E293B"/>
                </a:solidFill>
                <a:latin typeface="Poppins"/>
              </a:rPr>
              <a:t>Key Takeaway: </a:t>
            </a:r>
            <a:r>
              <a:rPr sz="1050">
                <a:solidFill>
                  <a:srgbClr val="475569"/>
                </a:solidFill>
                <a:latin typeface="Inter"/>
              </a:rPr>
              <a:t>Architectural Transformation: Evolved from an in-browser static prototype with hardcoded data into a production-grade decoupled system featuring SQLite database storage, dynamic CSV ingestion, two-tailed p-value hypothesis filtering, linked OLS regression modals, and high-DPI SVG export.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4595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Poppins"/>
              </a:defRPr>
            </a:pPr>
            <a:r>
              <a:t>API SPECIFICATION</a:t>
            </a:r>
          </a:p>
          <a:p>
            <a:pPr>
              <a:spcBef>
                <a:spcPts val="200"/>
              </a:spcBef>
              <a:defRPr sz="2200" b="1">
                <a:solidFill>
                  <a:srgbClr val="0F172A"/>
                </a:solidFill>
                <a:latin typeface="Poppins"/>
              </a:defRPr>
            </a:pPr>
            <a:r>
              <a:t>Backend REST API Architecture &amp; OpenAPI Specification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FastAPI RESTful design with Pydantic schema validation and automatic OpenAPI 3.0 documentation.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08760"/>
          <a:ext cx="1104595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91840"/>
                <a:gridCol w="3840480"/>
                <a:gridCol w="2542032"/>
              </a:tblGrid>
              <a:tr h="6324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HTTP Method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API Endpoint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Description &amp; Processing Logic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t>Response Format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/api/datasets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Retrieves metadata list for all stored datasets (ID, name, description, row counts, default flags).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JSON Array (Datasets)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/api/datasets/{id}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Fetches detailed dataset metadata, column schema types, and total observation count.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JSON Object (Metadata)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  <a:latin typeface="Poppins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/api/datasets/upload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Accepts multipart CSV file; executes Pandas validation, UUID creation, and SQLite persistence.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JSON Object (New Dataset)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/api/datasets/{id}/correlations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Computes Pearson/Spearman matrix, filters edges by min_threshold and max_p_value, returns active graph topology.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JSON (Nodes, Links, Matrix, Stats)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Poppins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/api/datasets/{id}/scatter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Extracts paired bivariate coordinates (X, Y) and calculates SciPy OLS regression slope, intercept, R², and p-value.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JSON (Points, Regression Metrics)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5440680"/>
            <a:ext cx="11045952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440680"/>
            <a:ext cx="4572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0408"/>
            <a:ext cx="10652760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1E293B"/>
                </a:solidFill>
                <a:latin typeface="Poppins"/>
              </a:rPr>
              <a:t>API Documentation: </a:t>
            </a:r>
            <a:r>
              <a:rPr sz="1050">
                <a:solidFill>
                  <a:srgbClr val="475569"/>
                </a:solidFill>
                <a:latin typeface="Inter"/>
              </a:rPr>
              <a:t>Interactive Swagger UI documentation live at http://127.0.0.1:8000/docs | OpenAPI 3.0 Compliant | Sub-50ms Response Latency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4595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5600" b="1">
                <a:solidFill>
                  <a:srgbClr val="2563EB"/>
                </a:solidFill>
                <a:latin typeface="Poppins"/>
              </a:defRPr>
            </a:pPr>
            <a:r>
              <a:t>Questions &amp; Discussion</a:t>
            </a:r>
          </a:p>
          <a:p>
            <a:pPr>
              <a:defRPr sz="1800">
                <a:solidFill>
                  <a:srgbClr val="1E293B"/>
                </a:solidFill>
                <a:latin typeface="Inter"/>
              </a:defRPr>
            </a:pPr>
            <a:r>
              <a:t>Thank you for your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926080"/>
            <a:ext cx="1104595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3090672"/>
            <a:ext cx="36576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3218688"/>
            <a:ext cx="10588752" cy="1627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Poppins"/>
              </a:defRPr>
            </a:pPr>
            <a:r>
              <a:t>Key Project Achievements Summary</a:t>
            </a:r>
          </a:p>
          <a:p>
            <a:pPr>
              <a:spcAft>
                <a:spcPts val="300"/>
              </a:spcAft>
              <a:defRPr sz="850" b="1">
                <a:solidFill>
                  <a:srgbClr val="2563EB"/>
                </a:solidFill>
                <a:latin typeface="Poppins"/>
              </a:defRPr>
            </a:pPr>
            <a:r>
              <a:t>PROJECT DEFENSE SUMMARY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Production-Ready Architecture: Built a decoupled 3-tier visual analytics studio solving the quadratic O(N²) tabular bottleneck.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Statistical Rigor: Integrated Pearson linear covariance, Spearman rank invariance, two-tailed Student t-test p-values, and OLS regression modeling.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Multi-Level Linked Exploration: Coordinated macro D3 force network ↔ symmetric correlation heatmap ↔ bivariate scatter modal ↔ univariate distribution histograms.</a:t>
            </a:r>
          </a:p>
          <a:p>
            <a:pPr>
              <a:spcBef>
                <a:spcPts val="300"/>
              </a:spcBef>
              <a:spcAft>
                <a:spcPts val="150"/>
              </a:spcAft>
              <a:defRPr sz="950">
                <a:solidFill>
                  <a:srgbClr val="475569"/>
                </a:solidFill>
                <a:latin typeface="Inter"/>
              </a:defRPr>
            </a:pPr>
            <a:r>
              <a:t>•  Dual Empirical Benchmark Validation: Evaluated on Academic Performance (N=100, Math-Physics r=+0.831) and Macroeconomics (N=80, GDP-Unemp r=-0.948 confirming Okun's Law).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212080"/>
            <a:ext cx="11045952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12080"/>
            <a:ext cx="4572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21808"/>
            <a:ext cx="1065276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1E293B"/>
                </a:solidFill>
                <a:latin typeface="Poppins"/>
              </a:rPr>
              <a:t>Interactive Demo Access: </a:t>
            </a:r>
            <a:r>
              <a:rPr sz="1050">
                <a:solidFill>
                  <a:srgbClr val="475569"/>
                </a:solidFill>
                <a:latin typeface="Inter"/>
              </a:rPr>
              <a:t>Live Studio: http://127.0.0.1:8000  •  API Swagger: http://127.0.0.1:8000/docs  •  Web Deck: http://127.0.0.1:8000/presentation  •  Launcher: start.bat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410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Ram Kumar Yadav [MU - Jaipur]</cp:lastModifiedBy>
  <cp:revision>2</cp:revision>
  <dcterms:created xsi:type="dcterms:W3CDTF">2013-01-27T09:14:16Z</dcterms:created>
  <dcterms:modified xsi:type="dcterms:W3CDTF">2026-08-24T06:29:33Z</dcterms:modified>
  <cp:category/>
</cp:coreProperties>
</file>