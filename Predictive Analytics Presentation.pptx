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5275" y="1950839"/>
            <a:ext cx="1160145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0F172A"/>
                </a:solidFill>
                <a:latin typeface="Poppins"/>
              </a:rPr>
              <a:t>Predictive Analytics for Customer Churn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3890069"/>
            <a:ext cx="76200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232969"/>
            <a:ext cx="7620000" cy="71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IN" sz="1800" b="0" i="0" u="none" dirty="0">
                <a:solidFill>
                  <a:srgbClr val="64748B"/>
                </a:solidFill>
                <a:latin typeface="Inter"/>
              </a:rPr>
              <a:t>Presented by</a:t>
            </a:r>
            <a:br>
              <a:rPr lang="en-IN" sz="1800" b="0" i="0" u="none" dirty="0">
                <a:solidFill>
                  <a:srgbClr val="64748B"/>
                </a:solidFill>
                <a:latin typeface="Inter"/>
              </a:rPr>
            </a:br>
            <a:r>
              <a:rPr lang="en-IN" sz="1800" b="0" i="0" u="none" dirty="0">
                <a:solidFill>
                  <a:srgbClr val="64748B"/>
                </a:solidFill>
                <a:latin typeface="Inter"/>
              </a:rPr>
              <a:t>Name: </a:t>
            </a:r>
            <a:endParaRPr sz="180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2817614"/>
            <a:ext cx="5500687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2563EB"/>
                </a:solidFill>
                <a:latin typeface="Poppins"/>
              </a:rPr>
              <a:t>Preface &amp;</a:t>
            </a:r>
            <a:r>
              <a:t>
</a:t>
            </a:r>
            <a:r>
              <a:rPr sz="4200" b="1" i="0" u="none">
                <a:solidFill>
                  <a:srgbClr val="2563EB"/>
                </a:solidFill>
                <a:latin typeface="Poppins"/>
              </a:rPr>
              <a:t>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1750" y="1160859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475569"/>
                </a:solidFill>
                <a:latin typeface="Inter"/>
              </a:rPr>
              <a:t>The Challenge: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Customer attrition remains a critical bottleneck for sustained revenue growth. Traditional reactive measures are no longer sufficient in a highly competitive market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692003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475569"/>
                </a:solidFill>
                <a:latin typeface="Inter"/>
              </a:rPr>
              <a:t>Our Objective: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To engineer and evaluate a robust, proactive predictive model capable of identifying at-risk accounts with high precision before the point of departure.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4223146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475569"/>
                </a:solidFill>
                <a:latin typeface="Inter"/>
              </a:rPr>
              <a:t>The Scope: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This presentation outlines the rigorous methodology applied to historical CRM data and presents the quantitative results of our advanced algorithmic evaluations.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81162"/>
            <a:ext cx="3492549" cy="4552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681162"/>
            <a:ext cx="3492549" cy="455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681162"/>
            <a:ext cx="3492549" cy="4552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071687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062287"/>
            <a:ext cx="23502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14737"/>
            <a:ext cx="29019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Aggregated 1.2 million customer interaction records across multiple silos, including transactional history, support tickets, and engagement metrics.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071687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062287"/>
            <a:ext cx="30470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14787"/>
            <a:ext cx="29019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Derived 45 novel behavioral features. Applied Synthetic Minority Over-sampling Technique (SMOTE) to balance the highly skewed churn dataset.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071687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062287"/>
            <a:ext cx="24403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3. 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61473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Implemented k-fold cross-validation across three distinct algorithmic architectures to ensure model robustness and prevent overfitting.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087" y="2262187"/>
            <a:ext cx="33337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762" y="2262187"/>
            <a:ext cx="42862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3874" y="2262187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Methodology: The Core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2052637"/>
            <a:ext cx="4191000" cy="381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1557337"/>
            <a:ext cx="6286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To establish a highly accurate predictive baseline, we deployed a multi-model approach, rigorously testing algorithms tailored for binary classification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00337"/>
            <a:ext cx="59436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Logistic Regression: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Utilized as the baseline model for its interpretability and computational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38537"/>
            <a:ext cx="59436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Random Forest: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Deployed to capture non-linear relationships and complex interaction effects among behavioral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76737"/>
            <a:ext cx="59436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XGBoost: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Implemented for advanced gradient boosting, handling missing data internally and optimizing for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4937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Hyperparameter Optimization: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Executed via Bayesian Optimization to systematically find the global optima for model parameters.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052637"/>
            <a:ext cx="4191000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57212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Algorithm Selection &amp; Tuning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1938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575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9578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339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51830"/>
            <a:ext cx="11049000" cy="48117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551830"/>
            <a:ext cx="11049000" cy="35925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551830"/>
          <a:ext cx="11039473" cy="359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51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Model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51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78.4%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51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Support Vector Machine (SVM)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82.1%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51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Random Forest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89.5%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51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XGBoost (Optimized)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94.2%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0.91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0.89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0.90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288083"/>
            <a:ext cx="3614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90553" y="2288083"/>
            <a:ext cx="2037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27712" y="2288083"/>
            <a:ext cx="1957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85100" y="2288083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43628" y="2288083"/>
            <a:ext cx="1872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2998589"/>
            <a:ext cx="3614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90553" y="2998589"/>
            <a:ext cx="2037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7712" y="2998589"/>
            <a:ext cx="1957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5100" y="2998589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43628" y="2998589"/>
            <a:ext cx="1872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3709094"/>
            <a:ext cx="3614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90553" y="3709094"/>
            <a:ext cx="2037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7712" y="3709094"/>
            <a:ext cx="1957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5100" y="3709094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43628" y="3709094"/>
            <a:ext cx="1872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262" y="4419600"/>
            <a:ext cx="36142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90553" y="4419600"/>
            <a:ext cx="2037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27712" y="4419600"/>
            <a:ext cx="1957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5100" y="4419600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43628" y="4419600"/>
            <a:ext cx="1872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" y="551705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Results: Evaluation Metrics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775"/>
            <a:ext cx="11049000" cy="46577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4976812"/>
            <a:ext cx="11049000" cy="9906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167312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The gradient boosted approach (XGBoost) provides a definitive 15.8% accuracy uplift over the traditional baseline, confirming the necessity of complex ensemble modeling for this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976812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Results: Comparative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2160"/>
            <a:ext cx="11049000" cy="52511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5592663"/>
            <a:ext cx="11049000" cy="9906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783163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Projection simulation: By implementing the XGBoost model outputs into our customer success workflow in Q3, we project a steady decline in the global churn rate, stabilizing near 6.5% by early next year.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592663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332035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Results: Simulated Churn Reduction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18570"/>
            <a:ext cx="4876800" cy="4857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283" y="1910655"/>
            <a:ext cx="11461432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2563EB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3425" y="3520380"/>
            <a:ext cx="31051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Thank you for your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813845"/>
            <a:ext cx="2371725" cy="190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Medium"/>
              </a:rPr>
              <a:t>data.science@company.com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5075" y="4813845"/>
            <a:ext cx="2219325" cy="190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Medium"/>
              </a:rPr>
              <a:t>analytics.company.internal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3289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48328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410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Ram Kumar Yadav [MU - Jaipur]</cp:lastModifiedBy>
  <cp:revision>2</cp:revision>
  <dcterms:created xsi:type="dcterms:W3CDTF">2013-01-27T09:14:16Z</dcterms:created>
  <dcterms:modified xsi:type="dcterms:W3CDTF">2026-08-24T06:29:33Z</dcterms:modified>
  <cp:category/>
</cp:coreProperties>
</file>